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61120" y="-457200"/>
            <a:ext cx="3200400" cy="3200400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01200" y="4114800"/>
            <a:ext cx="2286000" cy="2286000"/>
          </a:xfrm>
          <a:prstGeom prst="ellipse">
            <a:avLst/>
          </a:prstGeom>
          <a:solidFill>
            <a:srgbClr val="534AB7">
              <a:alpha val="25000"/>
            </a:srgbClr>
          </a:solidFill>
          <a:ln w="12700">
            <a:solidFill>
              <a:srgbClr val="534AB7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097280"/>
            <a:ext cx="2560320" cy="411480"/>
          </a:xfrm>
          <a:prstGeom prst="roundRect">
            <a:avLst>
              <a:gd name="adj" fmla="val 17778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972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</a:rPr>
              <a:t>UX RESEARCH · FINTECH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69164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 Journey Map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548640" y="260604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Service bancaire fintech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548640" y="3337560"/>
            <a:ext cx="411480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5661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Persona cible 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8404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Entrepreneur / PME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48640" y="434340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CADCFC"/>
                </a:solidFill>
              </a:rPr>
              <a:t>Dirigeant d'une petite ou moyenne entreprise cherchant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CADCFC"/>
                </a:solidFill>
              </a:rPr>
              <a:t>une solution bancaire moderne, rapide et adaptée à ses besoins.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5303520"/>
            <a:ext cx="256032" cy="25603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4672" y="5431536"/>
            <a:ext cx="1664208" cy="0"/>
          </a:xfrm>
          <a:prstGeom prst="line">
            <a:avLst/>
          </a:prstGeom>
          <a:noFill/>
          <a:ln w="6350">
            <a:solidFill>
              <a:srgbClr val="CADCFC">
                <a:alpha val="6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8600" y="55961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</a:rPr>
              <a:t>Découverte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468880" y="5303520"/>
            <a:ext cx="256032" cy="25603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24912" y="5431536"/>
            <a:ext cx="1664208" cy="0"/>
          </a:xfrm>
          <a:prstGeom prst="line">
            <a:avLst/>
          </a:prstGeom>
          <a:noFill/>
          <a:ln w="6350">
            <a:solidFill>
              <a:srgbClr val="CADCFC">
                <a:alpha val="6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48840" y="55961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</a:rPr>
              <a:t>Évaluation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389120" y="5303520"/>
            <a:ext cx="256032" cy="25603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45152" y="5431536"/>
            <a:ext cx="1664208" cy="0"/>
          </a:xfrm>
          <a:prstGeom prst="line">
            <a:avLst/>
          </a:prstGeom>
          <a:noFill/>
          <a:ln w="6350">
            <a:solidFill>
              <a:srgbClr val="CADCFC">
                <a:alpha val="6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069080" y="55961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</a:rPr>
              <a:t>Inscription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309360" y="5303520"/>
            <a:ext cx="256032" cy="25603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65392" y="5431536"/>
            <a:ext cx="1664208" cy="0"/>
          </a:xfrm>
          <a:prstGeom prst="line">
            <a:avLst/>
          </a:prstGeom>
          <a:noFill/>
          <a:ln w="6350">
            <a:solidFill>
              <a:srgbClr val="CADCFC">
                <a:alpha val="6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89320" y="55961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</a:rPr>
              <a:t>Activation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8229600" y="5303520"/>
            <a:ext cx="256032" cy="25603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485632" y="5431536"/>
            <a:ext cx="1664208" cy="0"/>
          </a:xfrm>
          <a:prstGeom prst="line">
            <a:avLst/>
          </a:prstGeom>
          <a:noFill/>
          <a:ln w="6350">
            <a:solidFill>
              <a:srgbClr val="CADCFC">
                <a:alpha val="6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909560" y="55961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</a:rPr>
              <a:t>Utilisation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10149840" y="5303520"/>
            <a:ext cx="256032" cy="25603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829800" y="55961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</a:rPr>
              <a:t>Fidélité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48640" y="649224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F5E5A"/>
                </a:solidFill>
              </a:rPr>
              <a:t>Analyse UX · 2025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</a:rPr>
              <a:t>PERSONA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3840480" cy="5394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63040" y="1097280"/>
            <a:ext cx="1828800" cy="18288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63040" y="109728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👔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Karim B.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342900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CADCFC"/>
                </a:solidFill>
              </a:rPr>
              <a:t>Fondateur d'une PME de 12 salariés</a:t>
            </a:r>
            <a:endParaRPr lang="en-US" sz="11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CADCFC"/>
                </a:solidFill>
              </a:rPr>
              <a:t>Secteur : services B2B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22960" y="4160520"/>
            <a:ext cx="3108960" cy="0"/>
          </a:xfrm>
          <a:prstGeom prst="line">
            <a:avLst/>
          </a:prstGeom>
          <a:noFill/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429768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📍  Dakar, Sénégal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461772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🎂  38 ans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493776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💼  10 ans d'expérience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525780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📱  Mobile-first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822960"/>
            <a:ext cx="6949440" cy="1645920"/>
          </a:xfrm>
          <a:prstGeom prst="rect">
            <a:avLst/>
          </a:prstGeom>
          <a:solidFill>
            <a:srgbClr val="E1F5F8"/>
          </a:solidFill>
          <a:ln w="6350">
            <a:solidFill>
              <a:srgbClr val="02809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937760" y="868680"/>
            <a:ext cx="6583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</a:rPr>
              <a:t>🎯  Besoins principaux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0" y="1261872"/>
            <a:ext cx="6492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2C2C2A"/>
                </a:solidFill>
              </a:rPr>
              <a:t>Ouvrir un compte pro rapidement sans déplacement physique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0" y="1600200"/>
            <a:ext cx="6492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2C2C2A"/>
                </a:solidFill>
              </a:rPr>
              <a:t>Gérer virements, factures et trésorerie depuis une seule app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0" y="1938528"/>
            <a:ext cx="6492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2C2C2A"/>
                </a:solidFill>
              </a:rPr>
              <a:t>Obtenir un IBAN et une carte entreprise en 48h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2606040"/>
            <a:ext cx="6949440" cy="1645920"/>
          </a:xfrm>
          <a:prstGeom prst="rect">
            <a:avLst/>
          </a:prstGeom>
          <a:solidFill>
            <a:srgbClr val="FAECE7"/>
          </a:solidFill>
          <a:ln w="6350">
            <a:solidFill>
              <a:srgbClr val="D85A3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937760" y="2651760"/>
            <a:ext cx="6583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85A30"/>
                </a:solidFill>
              </a:rPr>
              <a:t>⚡  Frustrations actuelles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029200" y="2999232"/>
            <a:ext cx="6492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85A30"/>
                </a:solidFill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2C2C2A"/>
                </a:solidFill>
              </a:rPr>
              <a:t>Processus d'ouverture longs et bureaucratiques (banques classiques)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0" y="3337560"/>
            <a:ext cx="6492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85A30"/>
                </a:solidFill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2C2C2A"/>
                </a:solidFill>
              </a:rPr>
              <a:t>Manque de transparence sur les frais et commissions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0" y="3675888"/>
            <a:ext cx="6492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85A30"/>
                </a:solidFill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2C2C2A"/>
                </a:solidFill>
              </a:rPr>
              <a:t>Support client lent et peu adapté aux urgences business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4389120"/>
            <a:ext cx="6949440" cy="1645920"/>
          </a:xfrm>
          <a:prstGeom prst="rect">
            <a:avLst/>
          </a:prstGeom>
          <a:solidFill>
            <a:srgbClr val="E1F5EE"/>
          </a:solidFill>
          <a:ln w="6350">
            <a:solidFill>
              <a:srgbClr val="1D9E7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937760" y="4434840"/>
            <a:ext cx="6583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9E75"/>
                </a:solidFill>
              </a:rPr>
              <a:t>✅  Objectifs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029200" y="4782312"/>
            <a:ext cx="6492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9E75"/>
                </a:solidFill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2C2C2A"/>
                </a:solidFill>
              </a:rPr>
              <a:t>Gagner du temps sur la gestion financière quotidienne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29200" y="5120640"/>
            <a:ext cx="6492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9E75"/>
                </a:solidFill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2C2C2A"/>
                </a:solidFill>
              </a:rPr>
              <a:t>Sécuriser les flux entrants/sortants de sa PME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29200" y="5458968"/>
            <a:ext cx="6492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9E75"/>
                </a:solidFill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2C2C2A"/>
                </a:solidFill>
              </a:rPr>
              <a:t>Disposer d'outils analytiques pour piloter la trésorerie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</a:rPr>
              <a:t>LES 6 PHASES DU PARCOURS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3566160" cy="2651760"/>
          </a:xfrm>
          <a:prstGeom prst="rect">
            <a:avLst/>
          </a:prstGeom>
          <a:solidFill>
            <a:srgbClr val="EEEDFE"/>
          </a:solidFill>
          <a:ln w="10160">
            <a:solidFill>
              <a:srgbClr val="534AB7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22960"/>
            <a:ext cx="3566160" cy="45720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229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Découverte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37160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🔍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548640" y="2011680"/>
            <a:ext cx="32004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2C2C2A"/>
                </a:solidFill>
              </a:rPr>
              <a:t>L'entrepreneur prend conscience du besoin et cherche des solutions en ligne ou via son réseau.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60520" y="822960"/>
            <a:ext cx="3566160" cy="2651760"/>
          </a:xfrm>
          <a:prstGeom prst="rect">
            <a:avLst/>
          </a:prstGeom>
          <a:solidFill>
            <a:srgbClr val="E6F1FB"/>
          </a:solidFill>
          <a:ln w="10160">
            <a:solidFill>
              <a:srgbClr val="185FA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60520" y="822960"/>
            <a:ext cx="3566160" cy="457200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60520" y="8229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Évaluation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60520" y="137160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⚖️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4343400" y="2011680"/>
            <a:ext cx="32004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2C2C2A"/>
                </a:solidFill>
              </a:rPr>
              <a:t>Il compare les offres, lit les avis et analyse les tarifs pour identifier la meilleure option.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955280" y="822960"/>
            <a:ext cx="3566160" cy="2651760"/>
          </a:xfrm>
          <a:prstGeom prst="rect">
            <a:avLst/>
          </a:prstGeom>
          <a:solidFill>
            <a:srgbClr val="FAEEDA"/>
          </a:solidFill>
          <a:ln w="10160">
            <a:solidFill>
              <a:srgbClr val="BA7517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955280" y="822960"/>
            <a:ext cx="3566160" cy="457200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55280" y="8229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Inscription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955280" y="137160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📋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8138160" y="2011680"/>
            <a:ext cx="32004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2C2C2A"/>
                </a:solidFill>
              </a:rPr>
              <a:t>Il s'engage dans la création de compte : soumission de documents, vérification KYC.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749040"/>
            <a:ext cx="3566160" cy="2651760"/>
          </a:xfrm>
          <a:prstGeom prst="rect">
            <a:avLst/>
          </a:prstGeom>
          <a:solidFill>
            <a:srgbClr val="E1F5F8"/>
          </a:solidFill>
          <a:ln w="10160">
            <a:solidFill>
              <a:srgbClr val="02809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749040"/>
            <a:ext cx="356616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7490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Activation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65760" y="429768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🚀</a:t>
            </a:r>
            <a:endParaRPr lang="en-US" sz="3400" dirty="0"/>
          </a:p>
        </p:txBody>
      </p:sp>
      <p:sp>
        <p:nvSpPr>
          <p:cNvPr id="23" name="Text 21"/>
          <p:cNvSpPr/>
          <p:nvPr/>
        </p:nvSpPr>
        <p:spPr>
          <a:xfrm>
            <a:off x="548640" y="4937760"/>
            <a:ext cx="32004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2C2C2A"/>
                </a:solidFill>
              </a:rPr>
              <a:t>Il reçoit sa carte et son IBAN, configure ses paramètres et effectue sa première transaction.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160520" y="3749040"/>
            <a:ext cx="3566160" cy="2651760"/>
          </a:xfrm>
          <a:prstGeom prst="rect">
            <a:avLst/>
          </a:prstGeom>
          <a:solidFill>
            <a:srgbClr val="E1F5EE"/>
          </a:solidFill>
          <a:ln w="10160">
            <a:solidFill>
              <a:srgbClr val="1D9E7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160520" y="3749040"/>
            <a:ext cx="3566160" cy="45720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60520" y="37490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Utilisation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160520" y="429768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💳</a:t>
            </a:r>
            <a:endParaRPr lang="en-US" sz="3400" dirty="0"/>
          </a:p>
        </p:txBody>
      </p:sp>
      <p:sp>
        <p:nvSpPr>
          <p:cNvPr id="28" name="Text 26"/>
          <p:cNvSpPr/>
          <p:nvPr/>
        </p:nvSpPr>
        <p:spPr>
          <a:xfrm>
            <a:off x="4343400" y="4937760"/>
            <a:ext cx="32004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2C2C2A"/>
                </a:solidFill>
              </a:rPr>
              <a:t>Il gère au quotidien ses virements, factures, dépenses et consulte son tableau de bord.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955280" y="3749040"/>
            <a:ext cx="3566160" cy="2651760"/>
          </a:xfrm>
          <a:prstGeom prst="rect">
            <a:avLst/>
          </a:prstGeom>
          <a:solidFill>
            <a:srgbClr val="CADCFC"/>
          </a:solidFill>
          <a:ln w="10160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955280" y="3749040"/>
            <a:ext cx="356616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955280" y="37490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Fidélité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955280" y="429768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⭐</a:t>
            </a:r>
            <a:endParaRPr lang="en-US" sz="3400" dirty="0"/>
          </a:p>
        </p:txBody>
      </p:sp>
      <p:sp>
        <p:nvSpPr>
          <p:cNvPr id="33" name="Text 31"/>
          <p:cNvSpPr/>
          <p:nvPr/>
        </p:nvSpPr>
        <p:spPr>
          <a:xfrm>
            <a:off x="8138160" y="4937760"/>
            <a:ext cx="32004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2C2C2A"/>
                </a:solidFill>
              </a:rPr>
              <a:t>Satisfait, il recommande le service à son réseau et explore des produits complémentaires.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</a:rPr>
              <a:t>USER JOURNEY MAP — VUE COMPLÈTE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417320" y="685800"/>
            <a:ext cx="1764792" cy="45720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17320" y="685800"/>
            <a:ext cx="1764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Découverte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27832" y="685800"/>
            <a:ext cx="1764792" cy="457200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27832" y="685800"/>
            <a:ext cx="1764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Évaluation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38344" y="685800"/>
            <a:ext cx="1764792" cy="457200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38344" y="685800"/>
            <a:ext cx="1764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Inscription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848856" y="685800"/>
            <a:ext cx="1764792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48856" y="685800"/>
            <a:ext cx="1764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Activation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659368" y="685800"/>
            <a:ext cx="1764792" cy="45720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59368" y="685800"/>
            <a:ext cx="1764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Utilisation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0469880" y="685800"/>
            <a:ext cx="1764792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469880" y="685800"/>
            <a:ext cx="1764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Fidélité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0" y="1188720"/>
            <a:ext cx="1371600" cy="7772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0" y="118872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FFFFFF"/>
                </a:solidFill>
              </a:rPr>
              <a:t>🎯</a:t>
            </a:r>
            <a:endParaRPr lang="en-US" sz="9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FFFFFF"/>
                </a:solidFill>
              </a:rPr>
              <a:t>Actions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0" y="2011680"/>
            <a:ext cx="1371600" cy="777240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0" y="201168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FFFFFF"/>
                </a:solidFill>
              </a:rPr>
              <a:t>📍</a:t>
            </a:r>
            <a:endParaRPr lang="en-US" sz="9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FFFFFF"/>
                </a:solidFill>
              </a:rPr>
              <a:t>Points de</a:t>
            </a:r>
            <a:endParaRPr lang="en-US" sz="9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FFFFFF"/>
                </a:solidFill>
              </a:rPr>
              <a:t>contact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0" y="2834640"/>
            <a:ext cx="1371600" cy="77724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0" y="283464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FFFFFF"/>
                </a:solidFill>
              </a:rPr>
              <a:t>💭</a:t>
            </a:r>
            <a:endParaRPr lang="en-US" sz="9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FFFFFF"/>
                </a:solidFill>
              </a:rPr>
              <a:t>Pensées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0" y="3657600"/>
            <a:ext cx="1371600" cy="777240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0" y="365760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FFFFFF"/>
                </a:solidFill>
              </a:rPr>
              <a:t>😊</a:t>
            </a:r>
            <a:endParaRPr lang="en-US" sz="9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FFFFFF"/>
                </a:solidFill>
              </a:rPr>
              <a:t>Émotions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0" y="4480560"/>
            <a:ext cx="1371600" cy="777240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0" y="448056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FFFFFF"/>
                </a:solidFill>
              </a:rPr>
              <a:t>⚡</a:t>
            </a:r>
            <a:endParaRPr lang="en-US" sz="9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FFFFFF"/>
                </a:solidFill>
              </a:rPr>
              <a:t>Douleurs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0" y="5303520"/>
            <a:ext cx="1371600" cy="77724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0" y="530352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FFFFFF"/>
                </a:solidFill>
              </a:rPr>
              <a:t>💡</a:t>
            </a:r>
            <a:endParaRPr lang="en-US" sz="9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FFFFFF"/>
                </a:solidFill>
              </a:rPr>
              <a:t>Opportunités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417320" y="1188720"/>
            <a:ext cx="1764792" cy="777240"/>
          </a:xfrm>
          <a:prstGeom prst="rect">
            <a:avLst/>
          </a:prstGeom>
          <a:solidFill>
            <a:srgbClr val="E1F5F8"/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463040" y="1225296"/>
            <a:ext cx="167335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2C2C2A"/>
                </a:solidFill>
              </a:rPr>
              <a:t>Cherche</a:t>
            </a:r>
            <a:endParaRPr lang="en-US" sz="8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2C2C2A"/>
                </a:solidFill>
              </a:rPr>
              <a:t>une banque pro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227832" y="1188720"/>
            <a:ext cx="1764792" cy="777240"/>
          </a:xfrm>
          <a:prstGeom prst="rect">
            <a:avLst/>
          </a:prstGeom>
          <a:solidFill>
            <a:srgbClr val="E1F5F8"/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73552" y="1225296"/>
            <a:ext cx="167335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2C2C2A"/>
                </a:solidFill>
              </a:rPr>
              <a:t>Compare</a:t>
            </a:r>
            <a:endParaRPr lang="en-US" sz="8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2C2C2A"/>
                </a:solidFill>
              </a:rPr>
              <a:t>les offres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038344" y="1188720"/>
            <a:ext cx="1764792" cy="777240"/>
          </a:xfrm>
          <a:prstGeom prst="rect">
            <a:avLst/>
          </a:prstGeom>
          <a:solidFill>
            <a:srgbClr val="E1F5F8"/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84064" y="1225296"/>
            <a:ext cx="167335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2C2C2A"/>
                </a:solidFill>
              </a:rPr>
              <a:t>Crée</a:t>
            </a:r>
            <a:endParaRPr lang="en-US" sz="8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2C2C2A"/>
                </a:solidFill>
              </a:rPr>
              <a:t>un compte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848856" y="1188720"/>
            <a:ext cx="1764792" cy="777240"/>
          </a:xfrm>
          <a:prstGeom prst="rect">
            <a:avLst/>
          </a:prstGeom>
          <a:solidFill>
            <a:srgbClr val="E1F5F8"/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94576" y="1225296"/>
            <a:ext cx="167335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2C2C2A"/>
                </a:solidFill>
              </a:rPr>
              <a:t>Reçoit carte</a:t>
            </a:r>
            <a:endParaRPr lang="en-US" sz="8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2C2C2A"/>
                </a:solidFill>
              </a:rPr>
              <a:t>et IBAN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8659368" y="1188720"/>
            <a:ext cx="1764792" cy="777240"/>
          </a:xfrm>
          <a:prstGeom prst="rect">
            <a:avLst/>
          </a:prstGeom>
          <a:solidFill>
            <a:srgbClr val="E1F5F8"/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705088" y="1225296"/>
            <a:ext cx="167335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2C2C2A"/>
                </a:solidFill>
              </a:rPr>
              <a:t>Gère</a:t>
            </a:r>
            <a:endParaRPr lang="en-US" sz="8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2C2C2A"/>
                </a:solidFill>
              </a:rPr>
              <a:t>les finances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0469880" y="1188720"/>
            <a:ext cx="1764792" cy="777240"/>
          </a:xfrm>
          <a:prstGeom prst="rect">
            <a:avLst/>
          </a:prstGeom>
          <a:solidFill>
            <a:srgbClr val="E1F5F8"/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515600" y="1225296"/>
            <a:ext cx="167335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2C2C2A"/>
                </a:solidFill>
              </a:rPr>
              <a:t>Recommande</a:t>
            </a:r>
            <a:endParaRPr lang="en-US" sz="8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2C2C2A"/>
                </a:solidFill>
              </a:rPr>
              <a:t>et parraine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1417320" y="2011680"/>
            <a:ext cx="1764792" cy="777240"/>
          </a:xfrm>
          <a:prstGeom prst="rect">
            <a:avLst/>
          </a:prstGeom>
          <a:solidFill>
            <a:srgbClr val="E6F1FB"/>
          </a:solidFill>
          <a:ln w="6350">
            <a:solidFill>
              <a:srgbClr val="185FA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463040" y="2048256"/>
            <a:ext cx="167335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2C2C2A"/>
                </a:solidFill>
              </a:rPr>
              <a:t>Google, réseaux</a:t>
            </a:r>
            <a:endParaRPr lang="en-US" sz="8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2C2C2A"/>
                </a:solidFill>
              </a:rPr>
              <a:t>sociaux, bouche</a:t>
            </a:r>
            <a:endParaRPr lang="en-US" sz="8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2C2C2A"/>
                </a:solidFill>
              </a:rPr>
              <a:t>à oreille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3227832" y="2011680"/>
            <a:ext cx="1764792" cy="777240"/>
          </a:xfrm>
          <a:prstGeom prst="rect">
            <a:avLst/>
          </a:prstGeom>
          <a:solidFill>
            <a:srgbClr val="E6F1FB"/>
          </a:solidFill>
          <a:ln w="6350">
            <a:solidFill>
              <a:srgbClr val="185FA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73552" y="2048256"/>
            <a:ext cx="167335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2C2C2A"/>
                </a:solidFill>
              </a:rPr>
              <a:t>Landing page,</a:t>
            </a:r>
            <a:endParaRPr lang="en-US" sz="8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2C2C2A"/>
                </a:solidFill>
              </a:rPr>
              <a:t>blog, comparateurs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5038344" y="2011680"/>
            <a:ext cx="1764792" cy="777240"/>
          </a:xfrm>
          <a:prstGeom prst="rect">
            <a:avLst/>
          </a:prstGeom>
          <a:solidFill>
            <a:srgbClr val="E6F1FB"/>
          </a:solidFill>
          <a:ln w="6350">
            <a:solidFill>
              <a:srgbClr val="185FA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84064" y="2048256"/>
            <a:ext cx="167335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2C2C2A"/>
                </a:solidFill>
              </a:rPr>
              <a:t>App mobile,</a:t>
            </a:r>
            <a:endParaRPr lang="en-US" sz="8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2C2C2A"/>
                </a:solidFill>
              </a:rPr>
              <a:t>site web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6848856" y="2011680"/>
            <a:ext cx="1764792" cy="777240"/>
          </a:xfrm>
          <a:prstGeom prst="rect">
            <a:avLst/>
          </a:prstGeom>
          <a:solidFill>
            <a:srgbClr val="E6F1FB"/>
          </a:solidFill>
          <a:ln w="6350">
            <a:solidFill>
              <a:srgbClr val="185FA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894576" y="2048256"/>
            <a:ext cx="167335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2C2C2A"/>
                </a:solidFill>
              </a:rPr>
              <a:t>Email d'accueil,</a:t>
            </a:r>
            <a:endParaRPr lang="en-US" sz="8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2C2C2A"/>
                </a:solidFill>
              </a:rPr>
              <a:t>app mobile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8659368" y="2011680"/>
            <a:ext cx="1764792" cy="777240"/>
          </a:xfrm>
          <a:prstGeom prst="rect">
            <a:avLst/>
          </a:prstGeom>
          <a:solidFill>
            <a:srgbClr val="E6F1FB"/>
          </a:solidFill>
          <a:ln w="6350">
            <a:solidFill>
              <a:srgbClr val="185FA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705088" y="2048256"/>
            <a:ext cx="167335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2C2C2A"/>
                </a:solidFill>
              </a:rPr>
              <a:t>Dashboard PME,</a:t>
            </a:r>
            <a:endParaRPr lang="en-US" sz="8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2C2C2A"/>
                </a:solidFill>
              </a:rPr>
              <a:t>app mobile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10469880" y="2011680"/>
            <a:ext cx="1764792" cy="777240"/>
          </a:xfrm>
          <a:prstGeom prst="rect">
            <a:avLst/>
          </a:prstGeom>
          <a:solidFill>
            <a:srgbClr val="E6F1FB"/>
          </a:solidFill>
          <a:ln w="6350">
            <a:solidFill>
              <a:srgbClr val="185FA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0515600" y="2048256"/>
            <a:ext cx="167335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2C2C2A"/>
                </a:solidFill>
              </a:rPr>
              <a:t>Email, chat,</a:t>
            </a:r>
            <a:endParaRPr lang="en-US" sz="8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2C2C2A"/>
                </a:solidFill>
              </a:rPr>
              <a:t>communauté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1417320" y="2834640"/>
            <a:ext cx="1764792" cy="777240"/>
          </a:xfrm>
          <a:prstGeom prst="rect">
            <a:avLst/>
          </a:prstGeom>
          <a:solidFill>
            <a:srgbClr val="EEEDFE"/>
          </a:solidFill>
          <a:ln w="6350">
            <a:solidFill>
              <a:srgbClr val="534AB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463040" y="2871216"/>
            <a:ext cx="167335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2C2C2A"/>
                </a:solidFill>
              </a:rPr>
              <a:t>"J'ai besoin d'un</a:t>
            </a:r>
            <a:endParaRPr lang="en-US" sz="8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2C2C2A"/>
                </a:solidFill>
              </a:rPr>
              <a:t>compte pro vite"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3227832" y="2834640"/>
            <a:ext cx="1764792" cy="777240"/>
          </a:xfrm>
          <a:prstGeom prst="rect">
            <a:avLst/>
          </a:prstGeom>
          <a:solidFill>
            <a:srgbClr val="EEEDFE"/>
          </a:solidFill>
          <a:ln w="6350">
            <a:solidFill>
              <a:srgbClr val="534AB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273552" y="2871216"/>
            <a:ext cx="167335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2C2C2A"/>
                </a:solidFill>
              </a:rPr>
              <a:t>"Quels sont</a:t>
            </a:r>
            <a:endParaRPr lang="en-US" sz="8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2C2C2A"/>
                </a:solidFill>
              </a:rPr>
              <a:t>les frais réels ?"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5038344" y="2834640"/>
            <a:ext cx="1764792" cy="777240"/>
          </a:xfrm>
          <a:prstGeom prst="rect">
            <a:avLst/>
          </a:prstGeom>
          <a:solidFill>
            <a:srgbClr val="EEEDFE"/>
          </a:solidFill>
          <a:ln w="6350">
            <a:solidFill>
              <a:srgbClr val="534AB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084064" y="2871216"/>
            <a:ext cx="167335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2C2C2A"/>
                </a:solidFill>
              </a:rPr>
              <a:t>"Combien de</a:t>
            </a:r>
            <a:endParaRPr lang="en-US" sz="8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2C2C2A"/>
                </a:solidFill>
              </a:rPr>
              <a:t>temps ça prend ?"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6848856" y="2834640"/>
            <a:ext cx="1764792" cy="777240"/>
          </a:xfrm>
          <a:prstGeom prst="rect">
            <a:avLst/>
          </a:prstGeom>
          <a:solidFill>
            <a:srgbClr val="EEEDFE"/>
          </a:solidFill>
          <a:ln w="6350">
            <a:solidFill>
              <a:srgbClr val="534AB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894576" y="2871216"/>
            <a:ext cx="167335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2C2C2A"/>
                </a:solidFill>
              </a:rPr>
              <a:t>"Je veux tout</a:t>
            </a:r>
            <a:endParaRPr lang="en-US" sz="8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2C2C2A"/>
                </a:solidFill>
              </a:rPr>
              <a:t>configurer vite"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8659368" y="2834640"/>
            <a:ext cx="1764792" cy="777240"/>
          </a:xfrm>
          <a:prstGeom prst="rect">
            <a:avLst/>
          </a:prstGeom>
          <a:solidFill>
            <a:srgbClr val="EEEDFE"/>
          </a:solidFill>
          <a:ln w="6350">
            <a:solidFill>
              <a:srgbClr val="534AB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705088" y="2871216"/>
            <a:ext cx="167335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2C2C2A"/>
                </a:solidFill>
              </a:rPr>
              <a:t>"Mes données</a:t>
            </a:r>
            <a:endParaRPr lang="en-US" sz="8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2C2C2A"/>
                </a:solidFill>
              </a:rPr>
              <a:t>sont-elles sûres ?"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10469880" y="2834640"/>
            <a:ext cx="1764792" cy="777240"/>
          </a:xfrm>
          <a:prstGeom prst="rect">
            <a:avLst/>
          </a:prstGeom>
          <a:solidFill>
            <a:srgbClr val="EEEDFE"/>
          </a:solidFill>
          <a:ln w="6350">
            <a:solidFill>
              <a:srgbClr val="534AB7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0515600" y="2871216"/>
            <a:ext cx="167335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2C2C2A"/>
                </a:solidFill>
              </a:rPr>
              <a:t>"Je veux un outil</a:t>
            </a:r>
            <a:endParaRPr lang="en-US" sz="8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2C2C2A"/>
                </a:solidFill>
              </a:rPr>
              <a:t>fiable long terme"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1417320" y="3657600"/>
            <a:ext cx="1764792" cy="777240"/>
          </a:xfrm>
          <a:prstGeom prst="rect">
            <a:avLst/>
          </a:prstGeom>
          <a:solidFill>
            <a:srgbClr val="FAEEDA"/>
          </a:solidFill>
          <a:ln w="6350">
            <a:solidFill>
              <a:srgbClr val="BA7517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463040" y="3694176"/>
            <a:ext cx="167335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2C2C2A"/>
                </a:solidFill>
              </a:rPr>
              <a:t>😐 Curieux</a:t>
            </a:r>
            <a:endParaRPr lang="en-US" sz="8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2C2C2A"/>
                </a:solidFill>
              </a:rPr>
              <a:t>Méfiant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3227832" y="3657600"/>
            <a:ext cx="1764792" cy="777240"/>
          </a:xfrm>
          <a:prstGeom prst="rect">
            <a:avLst/>
          </a:prstGeom>
          <a:solidFill>
            <a:srgbClr val="FAEEDA"/>
          </a:solidFill>
          <a:ln w="6350">
            <a:solidFill>
              <a:srgbClr val="BA7517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273552" y="3694176"/>
            <a:ext cx="167335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2C2C2A"/>
                </a:solidFill>
              </a:rPr>
              <a:t>😟 Méfiant</a:t>
            </a:r>
            <a:endParaRPr lang="en-US" sz="8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2C2C2A"/>
                </a:solidFill>
              </a:rPr>
              <a:t>Inquiet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5038344" y="3657600"/>
            <a:ext cx="1764792" cy="777240"/>
          </a:xfrm>
          <a:prstGeom prst="rect">
            <a:avLst/>
          </a:prstGeom>
          <a:solidFill>
            <a:srgbClr val="FAEEDA"/>
          </a:solidFill>
          <a:ln w="6350">
            <a:solidFill>
              <a:srgbClr val="BA7517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084064" y="3694176"/>
            <a:ext cx="167335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2C2C2A"/>
                </a:solidFill>
              </a:rPr>
              <a:t>😠 Frustré</a:t>
            </a:r>
            <a:endParaRPr lang="en-US" sz="8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2C2C2A"/>
                </a:solidFill>
              </a:rPr>
              <a:t>Impatient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6848856" y="3657600"/>
            <a:ext cx="1764792" cy="777240"/>
          </a:xfrm>
          <a:prstGeom prst="rect">
            <a:avLst/>
          </a:prstGeom>
          <a:solidFill>
            <a:srgbClr val="FAEEDA"/>
          </a:solidFill>
          <a:ln w="6350">
            <a:solidFill>
              <a:srgbClr val="BA7517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894576" y="3694176"/>
            <a:ext cx="167335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2C2C2A"/>
                </a:solidFill>
              </a:rPr>
              <a:t>😌 Soulagé</a:t>
            </a:r>
            <a:endParaRPr lang="en-US" sz="8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2C2C2A"/>
                </a:solidFill>
              </a:rPr>
              <a:t>Satisfait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8659368" y="3657600"/>
            <a:ext cx="1764792" cy="777240"/>
          </a:xfrm>
          <a:prstGeom prst="rect">
            <a:avLst/>
          </a:prstGeom>
          <a:solidFill>
            <a:srgbClr val="FAEEDA"/>
          </a:solidFill>
          <a:ln w="6350">
            <a:solidFill>
              <a:srgbClr val="BA7517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8705088" y="3694176"/>
            <a:ext cx="167335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2C2C2A"/>
                </a:solidFill>
              </a:rPr>
              <a:t>😊 Confiant</a:t>
            </a:r>
            <a:endParaRPr lang="en-US" sz="8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2C2C2A"/>
                </a:solidFill>
              </a:rPr>
              <a:t>Productif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10469880" y="3657600"/>
            <a:ext cx="1764792" cy="777240"/>
          </a:xfrm>
          <a:prstGeom prst="rect">
            <a:avLst/>
          </a:prstGeom>
          <a:solidFill>
            <a:srgbClr val="FAEEDA"/>
          </a:solidFill>
          <a:ln w="6350">
            <a:solidFill>
              <a:srgbClr val="BA7517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10515600" y="3694176"/>
            <a:ext cx="167335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2C2C2A"/>
                </a:solidFill>
              </a:rPr>
              <a:t>😃 Ambassadeur</a:t>
            </a:r>
            <a:endParaRPr lang="en-US" sz="8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2C2C2A"/>
                </a:solidFill>
              </a:rPr>
              <a:t>Fidèle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1417320" y="4480560"/>
            <a:ext cx="1764792" cy="777240"/>
          </a:xfrm>
          <a:prstGeom prst="rect">
            <a:avLst/>
          </a:prstGeom>
          <a:solidFill>
            <a:srgbClr val="FAECE7"/>
          </a:solidFill>
          <a:ln w="6350">
            <a:solidFill>
              <a:srgbClr val="D85A3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463040" y="4517136"/>
            <a:ext cx="167335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2C2C2A"/>
                </a:solidFill>
              </a:rPr>
              <a:t>Trop de choix,</a:t>
            </a:r>
            <a:endParaRPr lang="en-US" sz="8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2C2C2A"/>
                </a:solidFill>
              </a:rPr>
              <a:t>pas de clarté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3227832" y="4480560"/>
            <a:ext cx="1764792" cy="777240"/>
          </a:xfrm>
          <a:prstGeom prst="rect">
            <a:avLst/>
          </a:prstGeom>
          <a:solidFill>
            <a:srgbClr val="FAECE7"/>
          </a:solidFill>
          <a:ln w="6350">
            <a:solidFill>
              <a:srgbClr val="D85A3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273552" y="4517136"/>
            <a:ext cx="167335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2C2C2A"/>
                </a:solidFill>
              </a:rPr>
              <a:t>Manque de</a:t>
            </a:r>
            <a:endParaRPr lang="en-US" sz="8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2C2C2A"/>
                </a:solidFill>
              </a:rPr>
              <a:t>transparence tarifs</a:t>
            </a:r>
            <a:endParaRPr lang="en-US" sz="850" dirty="0"/>
          </a:p>
        </p:txBody>
      </p:sp>
      <p:sp>
        <p:nvSpPr>
          <p:cNvPr id="80" name="Shape 78"/>
          <p:cNvSpPr/>
          <p:nvPr/>
        </p:nvSpPr>
        <p:spPr>
          <a:xfrm>
            <a:off x="5038344" y="4480560"/>
            <a:ext cx="1764792" cy="777240"/>
          </a:xfrm>
          <a:prstGeom prst="rect">
            <a:avLst/>
          </a:prstGeom>
          <a:solidFill>
            <a:srgbClr val="FAECE7"/>
          </a:solidFill>
          <a:ln w="6350">
            <a:solidFill>
              <a:srgbClr val="D85A3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5084064" y="4517136"/>
            <a:ext cx="167335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2C2C2A"/>
                </a:solidFill>
              </a:rPr>
              <a:t>KYC long,</a:t>
            </a:r>
            <a:endParaRPr lang="en-US" sz="8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2C2C2A"/>
                </a:solidFill>
              </a:rPr>
              <a:t>documents lourds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6848856" y="4480560"/>
            <a:ext cx="1764792" cy="777240"/>
          </a:xfrm>
          <a:prstGeom prst="rect">
            <a:avLst/>
          </a:prstGeom>
          <a:solidFill>
            <a:srgbClr val="FAECE7"/>
          </a:solidFill>
          <a:ln w="6350">
            <a:solidFill>
              <a:srgbClr val="D85A3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894576" y="4517136"/>
            <a:ext cx="167335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2C2C2A"/>
                </a:solidFill>
              </a:rPr>
              <a:t>Onboarding</a:t>
            </a:r>
            <a:endParaRPr lang="en-US" sz="8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2C2C2A"/>
                </a:solidFill>
              </a:rPr>
              <a:t>peu guidé</a:t>
            </a:r>
            <a:endParaRPr lang="en-US" sz="850" dirty="0"/>
          </a:p>
        </p:txBody>
      </p:sp>
      <p:sp>
        <p:nvSpPr>
          <p:cNvPr id="84" name="Shape 82"/>
          <p:cNvSpPr/>
          <p:nvPr/>
        </p:nvSpPr>
        <p:spPr>
          <a:xfrm>
            <a:off x="8659368" y="4480560"/>
            <a:ext cx="1764792" cy="777240"/>
          </a:xfrm>
          <a:prstGeom prst="rect">
            <a:avLst/>
          </a:prstGeom>
          <a:solidFill>
            <a:srgbClr val="FAECE7"/>
          </a:solidFill>
          <a:ln w="6350">
            <a:solidFill>
              <a:srgbClr val="D85A3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8705088" y="4517136"/>
            <a:ext cx="167335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2C2C2A"/>
                </a:solidFill>
              </a:rPr>
              <a:t>Support lent</a:t>
            </a:r>
            <a:endParaRPr lang="en-US" sz="8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2C2C2A"/>
                </a:solidFill>
              </a:rPr>
              <a:t>en cas de blocage</a:t>
            </a:r>
            <a:endParaRPr lang="en-US" sz="850" dirty="0"/>
          </a:p>
        </p:txBody>
      </p:sp>
      <p:sp>
        <p:nvSpPr>
          <p:cNvPr id="86" name="Shape 84"/>
          <p:cNvSpPr/>
          <p:nvPr/>
        </p:nvSpPr>
        <p:spPr>
          <a:xfrm>
            <a:off x="10469880" y="4480560"/>
            <a:ext cx="1764792" cy="777240"/>
          </a:xfrm>
          <a:prstGeom prst="rect">
            <a:avLst/>
          </a:prstGeom>
          <a:solidFill>
            <a:srgbClr val="FAECE7"/>
          </a:solidFill>
          <a:ln w="6350">
            <a:solidFill>
              <a:srgbClr val="D85A3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10515600" y="4517136"/>
            <a:ext cx="167335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2C2C2A"/>
                </a:solidFill>
              </a:rPr>
              <a:t>Aucune</a:t>
            </a:r>
            <a:endParaRPr lang="en-US" sz="8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2C2C2A"/>
                </a:solidFill>
              </a:rPr>
              <a:t>(si tout va bien)</a:t>
            </a:r>
            <a:endParaRPr lang="en-US" sz="850" dirty="0"/>
          </a:p>
        </p:txBody>
      </p:sp>
      <p:sp>
        <p:nvSpPr>
          <p:cNvPr id="88" name="Shape 86"/>
          <p:cNvSpPr/>
          <p:nvPr/>
        </p:nvSpPr>
        <p:spPr>
          <a:xfrm>
            <a:off x="1417320" y="5303520"/>
            <a:ext cx="1764792" cy="777240"/>
          </a:xfrm>
          <a:prstGeom prst="rect">
            <a:avLst/>
          </a:prstGeom>
          <a:solidFill>
            <a:srgbClr val="E1F5EE"/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1463040" y="5340096"/>
            <a:ext cx="167335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2C2C2A"/>
                </a:solidFill>
              </a:rPr>
              <a:t>SEO ciblé PME,</a:t>
            </a:r>
            <a:endParaRPr lang="en-US" sz="8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2C2C2A"/>
                </a:solidFill>
              </a:rPr>
              <a:t>contenu éducatif</a:t>
            </a:r>
            <a:endParaRPr lang="en-US" sz="850" dirty="0"/>
          </a:p>
        </p:txBody>
      </p:sp>
      <p:sp>
        <p:nvSpPr>
          <p:cNvPr id="90" name="Shape 88"/>
          <p:cNvSpPr/>
          <p:nvPr/>
        </p:nvSpPr>
        <p:spPr>
          <a:xfrm>
            <a:off x="3227832" y="5303520"/>
            <a:ext cx="1764792" cy="777240"/>
          </a:xfrm>
          <a:prstGeom prst="rect">
            <a:avLst/>
          </a:prstGeom>
          <a:solidFill>
            <a:srgbClr val="E1F5EE"/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3273552" y="5340096"/>
            <a:ext cx="167335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2C2C2A"/>
                </a:solidFill>
              </a:rPr>
              <a:t>Simulateur</a:t>
            </a:r>
            <a:endParaRPr lang="en-US" sz="8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2C2C2A"/>
                </a:solidFill>
              </a:rPr>
              <a:t>de coûts en ligne</a:t>
            </a:r>
            <a:endParaRPr lang="en-US" sz="850" dirty="0"/>
          </a:p>
        </p:txBody>
      </p:sp>
      <p:sp>
        <p:nvSpPr>
          <p:cNvPr id="92" name="Shape 90"/>
          <p:cNvSpPr/>
          <p:nvPr/>
        </p:nvSpPr>
        <p:spPr>
          <a:xfrm>
            <a:off x="5038344" y="5303520"/>
            <a:ext cx="1764792" cy="777240"/>
          </a:xfrm>
          <a:prstGeom prst="rect">
            <a:avLst/>
          </a:prstGeom>
          <a:solidFill>
            <a:srgbClr val="E1F5EE"/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5084064" y="5340096"/>
            <a:ext cx="167335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2C2C2A"/>
                </a:solidFill>
              </a:rPr>
              <a:t>KYC simplifié</a:t>
            </a:r>
            <a:endParaRPr lang="en-US" sz="8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2C2C2A"/>
                </a:solidFill>
              </a:rPr>
              <a:t>mobile-first</a:t>
            </a:r>
            <a:endParaRPr lang="en-US" sz="850" dirty="0"/>
          </a:p>
        </p:txBody>
      </p:sp>
      <p:sp>
        <p:nvSpPr>
          <p:cNvPr id="94" name="Shape 92"/>
          <p:cNvSpPr/>
          <p:nvPr/>
        </p:nvSpPr>
        <p:spPr>
          <a:xfrm>
            <a:off x="6848856" y="5303520"/>
            <a:ext cx="1764792" cy="777240"/>
          </a:xfrm>
          <a:prstGeom prst="rect">
            <a:avLst/>
          </a:prstGeom>
          <a:solidFill>
            <a:srgbClr val="E1F5EE"/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6894576" y="5340096"/>
            <a:ext cx="167335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2C2C2A"/>
                </a:solidFill>
              </a:rPr>
              <a:t>Checklist</a:t>
            </a:r>
            <a:endParaRPr lang="en-US" sz="8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2C2C2A"/>
                </a:solidFill>
              </a:rPr>
              <a:t>d'activation guidée</a:t>
            </a:r>
            <a:endParaRPr lang="en-US" sz="850" dirty="0"/>
          </a:p>
        </p:txBody>
      </p:sp>
      <p:sp>
        <p:nvSpPr>
          <p:cNvPr id="96" name="Shape 94"/>
          <p:cNvSpPr/>
          <p:nvPr/>
        </p:nvSpPr>
        <p:spPr>
          <a:xfrm>
            <a:off x="8659368" y="5303520"/>
            <a:ext cx="1764792" cy="777240"/>
          </a:xfrm>
          <a:prstGeom prst="rect">
            <a:avLst/>
          </a:prstGeom>
          <a:solidFill>
            <a:srgbClr val="E1F5EE"/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8705088" y="5340096"/>
            <a:ext cx="167335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2C2C2A"/>
                </a:solidFill>
              </a:rPr>
              <a:t>Chat IA</a:t>
            </a:r>
            <a:endParaRPr lang="en-US" sz="8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2C2C2A"/>
                </a:solidFill>
              </a:rPr>
              <a:t>comptable intégré</a:t>
            </a:r>
            <a:endParaRPr lang="en-US" sz="850" dirty="0"/>
          </a:p>
        </p:txBody>
      </p:sp>
      <p:sp>
        <p:nvSpPr>
          <p:cNvPr id="98" name="Shape 96"/>
          <p:cNvSpPr/>
          <p:nvPr/>
        </p:nvSpPr>
        <p:spPr>
          <a:xfrm>
            <a:off x="10469880" y="5303520"/>
            <a:ext cx="1764792" cy="777240"/>
          </a:xfrm>
          <a:prstGeom prst="rect">
            <a:avLst/>
          </a:prstGeom>
          <a:solidFill>
            <a:srgbClr val="E1F5EE"/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10515600" y="5340096"/>
            <a:ext cx="167335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2C2C2A"/>
                </a:solidFill>
              </a:rPr>
              <a:t>Programme parrainage</a:t>
            </a:r>
            <a:endParaRPr lang="en-US" sz="8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2C2C2A"/>
                </a:solidFill>
              </a:rPr>
              <a:t>PME dédié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</a:rPr>
              <a:t>COURBE ÉMOTIONNELLE DU PARCOURS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11247120" cy="5029200"/>
          </a:xfrm>
          <a:prstGeom prst="rect">
            <a:avLst/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777240"/>
            <a:ext cx="11247120" cy="2286000"/>
          </a:xfrm>
          <a:prstGeom prst="rect">
            <a:avLst/>
          </a:prstGeom>
          <a:solidFill>
            <a:srgbClr val="E1F5EE">
              <a:alpha val="40000"/>
            </a:srgbClr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3063240"/>
            <a:ext cx="11247120" cy="2743200"/>
          </a:xfrm>
          <a:prstGeom prst="rect">
            <a:avLst/>
          </a:prstGeom>
          <a:solidFill>
            <a:srgbClr val="FAECE7">
              <a:alpha val="40000"/>
            </a:srgbClr>
          </a:solidFill>
          <a:ln w="12700">
            <a:solidFill>
              <a:srgbClr val="FAECE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3063240"/>
            <a:ext cx="11247120" cy="0"/>
          </a:xfrm>
          <a:prstGeom prst="line">
            <a:avLst/>
          </a:prstGeom>
          <a:noFill/>
          <a:ln w="9525">
            <a:solidFill>
              <a:srgbClr val="5F5E5A"/>
            </a:solidFill>
            <a:prstDash val="dashDot"/>
          </a:ln>
        </p:spPr>
      </p:sp>
      <p:sp>
        <p:nvSpPr>
          <p:cNvPr id="8" name="Text 6"/>
          <p:cNvSpPr/>
          <p:nvPr/>
        </p:nvSpPr>
        <p:spPr>
          <a:xfrm>
            <a:off x="475488" y="292608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</a:rPr>
              <a:t>Neutre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80467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9E75"/>
                </a:solidFill>
              </a:rPr>
              <a:t>😊 Positif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54864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32D2D"/>
                </a:solidFill>
              </a:rPr>
              <a:t>😟 Négatif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103120" y="2286000"/>
            <a:ext cx="1737360" cy="1371600"/>
          </a:xfrm>
          <a:prstGeom prst="line">
            <a:avLst/>
          </a:prstGeom>
          <a:noFill/>
          <a:ln w="31750">
            <a:solidFill>
              <a:srgbClr val="02809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40480" y="3657600"/>
            <a:ext cx="1737360" cy="822960"/>
          </a:xfrm>
          <a:prstGeom prst="line">
            <a:avLst/>
          </a:prstGeom>
          <a:noFill/>
          <a:ln w="31750">
            <a:solidFill>
              <a:srgbClr val="02809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577840" y="4480560"/>
            <a:ext cx="1737360" cy="-2468880"/>
          </a:xfrm>
          <a:prstGeom prst="line">
            <a:avLst/>
          </a:prstGeom>
          <a:noFill/>
          <a:ln w="31750">
            <a:solidFill>
              <a:srgbClr val="02809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0" y="2011680"/>
            <a:ext cx="1737360" cy="-640080"/>
          </a:xfrm>
          <a:prstGeom prst="line">
            <a:avLst/>
          </a:prstGeom>
          <a:noFill/>
          <a:ln w="31750">
            <a:solidFill>
              <a:srgbClr val="02809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052560" y="1371600"/>
            <a:ext cx="1737360" cy="-365760"/>
          </a:xfrm>
          <a:prstGeom prst="line">
            <a:avLst/>
          </a:prstGeom>
          <a:noFill/>
          <a:ln w="31750">
            <a:solidFill>
              <a:srgbClr val="02809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65960" y="2148840"/>
            <a:ext cx="274320" cy="274320"/>
          </a:xfrm>
          <a:prstGeom prst="ellipse">
            <a:avLst/>
          </a:prstGeom>
          <a:solidFill>
            <a:srgbClr val="534AB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71600" y="576072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2C2A"/>
                </a:solidFill>
              </a:rPr>
              <a:t>Découverte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103120" y="5742432"/>
            <a:ext cx="0" cy="0"/>
          </a:xfrm>
          <a:prstGeom prst="line">
            <a:avLst/>
          </a:prstGeom>
          <a:noFill/>
          <a:ln w="6350">
            <a:solidFill>
              <a:srgbClr val="D3D1C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325880" y="1508760"/>
            <a:ext cx="1554480" cy="594360"/>
          </a:xfrm>
          <a:prstGeom prst="roundRect">
            <a:avLst>
              <a:gd name="adj" fmla="val 12308"/>
            </a:avLst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53312" y="1536192"/>
            <a:ext cx="149961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FFFFFF"/>
                </a:solidFill>
              </a:rPr>
              <a:t>😐 Curieux</a:t>
            </a:r>
            <a:endParaRPr lang="en-US" sz="80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FFFFFF"/>
                </a:solidFill>
              </a:rPr>
              <a:t>Léger intérêt,</a:t>
            </a:r>
            <a:endParaRPr lang="en-US" sz="80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FFFFFF"/>
                </a:solidFill>
              </a:rPr>
              <a:t>pas encore engagé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703320" y="3520440"/>
            <a:ext cx="274320" cy="274320"/>
          </a:xfrm>
          <a:prstGeom prst="ellipse">
            <a:avLst/>
          </a:prstGeom>
          <a:solidFill>
            <a:srgbClr val="185FA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08960" y="576072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2C2A"/>
                </a:solidFill>
              </a:rPr>
              <a:t>Évaluation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840480" y="5742432"/>
            <a:ext cx="0" cy="0"/>
          </a:xfrm>
          <a:prstGeom prst="line">
            <a:avLst/>
          </a:prstGeom>
          <a:noFill/>
          <a:ln w="6350">
            <a:solidFill>
              <a:srgbClr val="D3D1C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063240" y="3886200"/>
            <a:ext cx="1554480" cy="594360"/>
          </a:xfrm>
          <a:prstGeom prst="roundRect">
            <a:avLst>
              <a:gd name="adj" fmla="val 12308"/>
            </a:avLst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090672" y="3913632"/>
            <a:ext cx="149961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FFFFFF"/>
                </a:solidFill>
              </a:rPr>
              <a:t>😟 Méfiant</a:t>
            </a:r>
            <a:endParaRPr lang="en-US" sz="80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FFFFFF"/>
                </a:solidFill>
              </a:rPr>
              <a:t>Méfiance sur</a:t>
            </a:r>
            <a:endParaRPr lang="en-US" sz="80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FFFFFF"/>
                </a:solidFill>
              </a:rPr>
              <a:t>les frais réels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440680" y="4343400"/>
            <a:ext cx="274320" cy="274320"/>
          </a:xfrm>
          <a:prstGeom prst="ellipse">
            <a:avLst/>
          </a:prstGeom>
          <a:solidFill>
            <a:srgbClr val="BA751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576072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2C2A"/>
                </a:solidFill>
              </a:rPr>
              <a:t>Inscription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577840" y="5742432"/>
            <a:ext cx="0" cy="0"/>
          </a:xfrm>
          <a:prstGeom prst="line">
            <a:avLst/>
          </a:prstGeom>
          <a:noFill/>
          <a:ln w="6350">
            <a:solidFill>
              <a:srgbClr val="D3D1C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00600" y="4709160"/>
            <a:ext cx="1554480" cy="594360"/>
          </a:xfrm>
          <a:prstGeom prst="roundRect">
            <a:avLst>
              <a:gd name="adj" fmla="val 12308"/>
            </a:avLst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28032" y="4736592"/>
            <a:ext cx="149961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FFFFFF"/>
                </a:solidFill>
              </a:rPr>
              <a:t>😠 Frustré</a:t>
            </a:r>
            <a:endParaRPr lang="en-US" sz="80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FFFFFF"/>
                </a:solidFill>
              </a:rPr>
              <a:t>Friction maximale</a:t>
            </a:r>
            <a:endParaRPr lang="en-US" sz="80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FFFFFF"/>
                </a:solidFill>
              </a:rPr>
              <a:t>KYC long et lourd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7178040" y="1874520"/>
            <a:ext cx="274320" cy="274320"/>
          </a:xfrm>
          <a:prstGeom prst="ellipse">
            <a:avLst/>
          </a:prstGeom>
          <a:solidFill>
            <a:srgbClr val="02809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83680" y="576072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2C2A"/>
                </a:solidFill>
              </a:rPr>
              <a:t>Activation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315200" y="5742432"/>
            <a:ext cx="0" cy="0"/>
          </a:xfrm>
          <a:prstGeom prst="line">
            <a:avLst/>
          </a:prstGeom>
          <a:noFill/>
          <a:ln w="6350">
            <a:solidFill>
              <a:srgbClr val="D3D1C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537960" y="1234440"/>
            <a:ext cx="1554480" cy="594360"/>
          </a:xfrm>
          <a:prstGeom prst="roundRect">
            <a:avLst>
              <a:gd name="adj" fmla="val 12308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65392" y="1261872"/>
            <a:ext cx="149961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FFFFFF"/>
                </a:solidFill>
              </a:rPr>
              <a:t>😌 Soulagé</a:t>
            </a:r>
            <a:endParaRPr lang="en-US" sz="80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FFFFFF"/>
                </a:solidFill>
              </a:rPr>
              <a:t>Soulagement à</a:t>
            </a:r>
            <a:endParaRPr lang="en-US" sz="80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FFFFFF"/>
                </a:solidFill>
              </a:rPr>
              <a:t>la réception de la carte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8915400" y="1234440"/>
            <a:ext cx="274320" cy="274320"/>
          </a:xfrm>
          <a:prstGeom prst="ellipse">
            <a:avLst/>
          </a:prstGeom>
          <a:solidFill>
            <a:srgbClr val="1D9E7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321040" y="576072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2C2A"/>
                </a:solidFill>
              </a:rPr>
              <a:t>Utilisation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9052560" y="5742432"/>
            <a:ext cx="0" cy="0"/>
          </a:xfrm>
          <a:prstGeom prst="line">
            <a:avLst/>
          </a:prstGeom>
          <a:noFill/>
          <a:ln w="6350">
            <a:solidFill>
              <a:srgbClr val="D3D1C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275320" y="594360"/>
            <a:ext cx="1554480" cy="594360"/>
          </a:xfrm>
          <a:prstGeom prst="roundRect">
            <a:avLst>
              <a:gd name="adj" fmla="val 12308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302752" y="621792"/>
            <a:ext cx="149961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FFFFFF"/>
                </a:solidFill>
              </a:rPr>
              <a:t>😊 Confiant</a:t>
            </a:r>
            <a:endParaRPr lang="en-US" sz="80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FFFFFF"/>
                </a:solidFill>
              </a:rPr>
              <a:t>Satisfaction</a:t>
            </a:r>
            <a:endParaRPr lang="en-US" sz="80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FFFFFF"/>
                </a:solidFill>
              </a:rPr>
              <a:t>au quotidien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10652760" y="868680"/>
            <a:ext cx="274320" cy="274320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058400" y="576072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2C2A"/>
                </a:solidFill>
              </a:rPr>
              <a:t>Fidélité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10789920" y="5742432"/>
            <a:ext cx="0" cy="0"/>
          </a:xfrm>
          <a:prstGeom prst="line">
            <a:avLst/>
          </a:prstGeom>
          <a:noFill/>
          <a:ln w="6350">
            <a:solidFill>
              <a:srgbClr val="D3D1C7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012680" y="228600"/>
            <a:ext cx="1554480" cy="594360"/>
          </a:xfrm>
          <a:prstGeom prst="roundRect">
            <a:avLst>
              <a:gd name="adj" fmla="val 12308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040112" y="256032"/>
            <a:ext cx="149961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FFFFFF"/>
                </a:solidFill>
              </a:rPr>
              <a:t>😃 Ambassadeur</a:t>
            </a:r>
            <a:endParaRPr lang="en-US" sz="80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FFFFFF"/>
                </a:solidFill>
              </a:rPr>
              <a:t>Recommandation</a:t>
            </a:r>
            <a:endParaRPr lang="en-US" sz="80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FFFFFF"/>
                </a:solidFill>
              </a:rPr>
              <a:t>et fidélité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4754880" y="4892040"/>
            <a:ext cx="2651760" cy="457200"/>
          </a:xfrm>
          <a:prstGeom prst="roundRect">
            <a:avLst>
              <a:gd name="adj" fmla="val 16000"/>
            </a:avLst>
          </a:prstGeom>
          <a:solidFill>
            <a:srgbClr val="FAECE7"/>
          </a:solidFill>
          <a:ln w="9525">
            <a:solidFill>
              <a:srgbClr val="D85A3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54880" y="48920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32D2D"/>
                </a:solidFill>
              </a:rPr>
              <a:t>⚠️  Point de friction maximal — risque d'abandon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</a:rPr>
              <a:t>POINTS DE DOULEUR CRITIQUES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11430000" cy="1737360"/>
          </a:xfrm>
          <a:prstGeom prst="rect">
            <a:avLst/>
          </a:prstGeom>
          <a:solidFill>
            <a:srgbClr val="FAECE7"/>
          </a:solidFill>
          <a:ln w="9525">
            <a:solidFill>
              <a:srgbClr val="D85A3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777240"/>
            <a:ext cx="182880" cy="1737360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8229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💰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463040" y="868680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Manque de transparence tarifaire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63040" y="123444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85A30"/>
                </a:solidFill>
              </a:rPr>
              <a:t>Phase : Évaluation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463040" y="15087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2C2C2A"/>
                </a:solidFill>
              </a:rPr>
              <a:t>L'entrepreneur ne trouve pas facilement le coût réel de la solution. Les comparateurs sont confus, les frais cachés nombreux. Il développe une méfiance qui peut l'amener à abandonner l'offre.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692640" y="960120"/>
            <a:ext cx="1828800" cy="320040"/>
          </a:xfrm>
          <a:prstGeom prst="roundRect">
            <a:avLst>
              <a:gd name="adj" fmla="val 17143"/>
            </a:avLst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92640" y="9601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Impact : Élevé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9692640" y="1371600"/>
            <a:ext cx="1828800" cy="320040"/>
          </a:xfrm>
          <a:prstGeom prst="roundRect">
            <a:avLst>
              <a:gd name="adj" fmla="val 17143"/>
            </a:avLst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92640" y="13716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Très fréquent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2697480"/>
            <a:ext cx="11430000" cy="1737360"/>
          </a:xfrm>
          <a:prstGeom prst="rect">
            <a:avLst/>
          </a:prstGeom>
          <a:solidFill>
            <a:srgbClr val="FAECE7"/>
          </a:solidFill>
          <a:ln w="9525">
            <a:solidFill>
              <a:srgbClr val="D85A3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697480"/>
            <a:ext cx="182880" cy="1737360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27432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📋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1463040" y="2788920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Processus KYC long et contraignant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63040" y="315468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85A30"/>
                </a:solidFill>
              </a:rPr>
              <a:t>Phase : Inscription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463040" y="34290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2C2C2A"/>
                </a:solidFill>
              </a:rPr>
              <a:t>La soumission de documents (statuts, kbis, pièce d'identité, justificatifs) est perçue comme lourde. Le délai de validation crée de l'anxiété. C'est le principal point de friction et de risque d'abandon.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692640" y="2880360"/>
            <a:ext cx="1828800" cy="320040"/>
          </a:xfrm>
          <a:prstGeom prst="roundRect">
            <a:avLst>
              <a:gd name="adj" fmla="val 17143"/>
            </a:avLst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92640" y="28803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Impact : Critique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9692640" y="3291840"/>
            <a:ext cx="1828800" cy="320040"/>
          </a:xfrm>
          <a:prstGeom prst="roundRect">
            <a:avLst>
              <a:gd name="adj" fmla="val 17143"/>
            </a:avLst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92640" y="32918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Systématique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5760" y="4617720"/>
            <a:ext cx="11430000" cy="1737360"/>
          </a:xfrm>
          <a:prstGeom prst="rect">
            <a:avLst/>
          </a:prstGeom>
          <a:solidFill>
            <a:srgbClr val="FAECE7"/>
          </a:solidFill>
          <a:ln w="9525">
            <a:solidFill>
              <a:srgbClr val="D85A3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4617720"/>
            <a:ext cx="182880" cy="1737360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46634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🔧</a:t>
            </a:r>
            <a:endParaRPr lang="en-US" sz="3200" dirty="0"/>
          </a:p>
        </p:txBody>
      </p:sp>
      <p:sp>
        <p:nvSpPr>
          <p:cNvPr id="27" name="Text 25"/>
          <p:cNvSpPr/>
          <p:nvPr/>
        </p:nvSpPr>
        <p:spPr>
          <a:xfrm>
            <a:off x="1463040" y="4709160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Support client peu réactif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463040" y="50749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85A30"/>
                </a:solidFill>
              </a:rPr>
              <a:t>Phase : Utilisation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463040" y="53492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2C2C2A"/>
                </a:solidFill>
              </a:rPr>
              <a:t>En cas de blocage opérationnel (virement refusé, carte bloquée), l'attente de réponse est insupportable pour un chef d'entreprise. L'absence de support dédié PME est vécue comme un manque de respect.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9692640" y="4800600"/>
            <a:ext cx="1828800" cy="320040"/>
          </a:xfrm>
          <a:prstGeom prst="roundRect">
            <a:avLst>
              <a:gd name="adj" fmla="val 17143"/>
            </a:avLst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692640" y="48006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Impact : Élevé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9692640" y="5212080"/>
            <a:ext cx="1828800" cy="320040"/>
          </a:xfrm>
          <a:prstGeom prst="roundRect">
            <a:avLst>
              <a:gd name="adj" fmla="val 17143"/>
            </a:avLst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692640" y="52120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Fréquent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</a:rPr>
              <a:t>OPPORTUNITÉS &amp; RECOMMANDATIONS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3749040" cy="2743200"/>
          </a:xfrm>
          <a:prstGeom prst="rect">
            <a:avLst/>
          </a:prstGeom>
          <a:solidFill>
            <a:srgbClr val="EEEDFE"/>
          </a:solidFill>
          <a:ln w="9525">
            <a:solidFill>
              <a:srgbClr val="534AB7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777240"/>
            <a:ext cx="3749040" cy="7315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88920" y="914400"/>
            <a:ext cx="1188720" cy="274320"/>
          </a:xfrm>
          <a:prstGeom prst="roundRect">
            <a:avLst>
              <a:gd name="adj" fmla="val 20000"/>
            </a:avLst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88920" y="9144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Moyenne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91440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🔍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57200" y="128016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Contenu SEO ciblé PME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176479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34AB7"/>
                </a:solidFill>
              </a:rPr>
              <a:t>Phase : Découverte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201168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2C2C2A"/>
                </a:solidFill>
              </a:rPr>
              <a:t>Créer des guides pratiques ("ouvrir un compte pro au Sénégal"), des témoignages de dirigeants et des comparatifs ciblant les requêtes des entrepreneurs.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251960" y="777240"/>
            <a:ext cx="3749040" cy="2743200"/>
          </a:xfrm>
          <a:prstGeom prst="rect">
            <a:avLst/>
          </a:prstGeom>
          <a:solidFill>
            <a:srgbClr val="E6F1FB"/>
          </a:solidFill>
          <a:ln w="9525">
            <a:solidFill>
              <a:srgbClr val="185FA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251960" y="777240"/>
            <a:ext cx="3749040" cy="73152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20840" y="914400"/>
            <a:ext cx="1188720" cy="274320"/>
          </a:xfrm>
          <a:prstGeom prst="roundRect">
            <a:avLst>
              <a:gd name="adj" fmla="val 20000"/>
            </a:avLst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20840" y="9144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Haute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251960" y="91440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💰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389120" y="128016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Simulateur de coûts transparent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389120" y="176479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85FA5"/>
                </a:solidFill>
              </a:rPr>
              <a:t>Phase : Évaluation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389120" y="201168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2C2C2A"/>
                </a:solidFill>
              </a:rPr>
              <a:t>Outil interactif sur la landing page permettant de calculer le coût mensuel selon le profil PME. Inclure tous les frais, aucun hidden cost.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183880" y="777240"/>
            <a:ext cx="3749040" cy="2743200"/>
          </a:xfrm>
          <a:prstGeom prst="rect">
            <a:avLst/>
          </a:prstGeom>
          <a:solidFill>
            <a:srgbClr val="FAEEDA"/>
          </a:solidFill>
          <a:ln w="9525">
            <a:solidFill>
              <a:srgbClr val="BA7517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183880" y="777240"/>
            <a:ext cx="3749040" cy="73152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652760" y="914400"/>
            <a:ext cx="1188720" cy="274320"/>
          </a:xfrm>
          <a:prstGeom prst="roundRect">
            <a:avLst>
              <a:gd name="adj" fmla="val 20000"/>
            </a:avLst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652760" y="9144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Critique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8183880" y="91440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📱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8321040" y="128016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KYC simplifié mobile-first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321040" y="176479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A7517"/>
                </a:solidFill>
              </a:rPr>
              <a:t>Phase : Inscription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321040" y="201168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2C2C2A"/>
                </a:solidFill>
              </a:rPr>
              <a:t>Réduire les étapes KYC à l'essentiel, permettre la capture de documents par photo, envoyer des confirmations en temps réel et viser &lt; 24h de validation.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0040" y="3703320"/>
            <a:ext cx="3749040" cy="2743200"/>
          </a:xfrm>
          <a:prstGeom prst="rect">
            <a:avLst/>
          </a:prstGeom>
          <a:solidFill>
            <a:srgbClr val="E1F5F8"/>
          </a:solidFill>
          <a:ln w="9525">
            <a:solidFill>
              <a:srgbClr val="02809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0040" y="3703320"/>
            <a:ext cx="374904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88920" y="3840480"/>
            <a:ext cx="1188720" cy="274320"/>
          </a:xfrm>
          <a:prstGeom prst="roundRect">
            <a:avLst>
              <a:gd name="adj" fmla="val 20000"/>
            </a:avLst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88920" y="38404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Haute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20040" y="384048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✅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457200" y="420624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Checklist d'activation guidée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57200" y="469087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8090"/>
                </a:solidFill>
              </a:rPr>
              <a:t>Phase : Activation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57200" y="493776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2C2C2A"/>
                </a:solidFill>
              </a:rPr>
              <a:t>Parcours onboarding en 5 étapes avec barre de progression, tutoriels vidéo courts et incentive (frais offerts le 1er mois) pour accélérer l'activation.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251960" y="3703320"/>
            <a:ext cx="3749040" cy="2743200"/>
          </a:xfrm>
          <a:prstGeom prst="rect">
            <a:avLst/>
          </a:prstGeom>
          <a:solidFill>
            <a:srgbClr val="E1F5EE"/>
          </a:solidFill>
          <a:ln w="9525">
            <a:solidFill>
              <a:srgbClr val="1D9E7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251960" y="3703320"/>
            <a:ext cx="3749040" cy="731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720840" y="3840480"/>
            <a:ext cx="1188720" cy="274320"/>
          </a:xfrm>
          <a:prstGeom prst="roundRect">
            <a:avLst>
              <a:gd name="adj" fmla="val 20000"/>
            </a:avLst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720840" y="38404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Haute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251960" y="384048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🤖</a:t>
            </a:r>
            <a:endParaRPr lang="en-US" sz="2400" dirty="0"/>
          </a:p>
        </p:txBody>
      </p:sp>
      <p:sp>
        <p:nvSpPr>
          <p:cNvPr id="41" name="Text 39"/>
          <p:cNvSpPr/>
          <p:nvPr/>
        </p:nvSpPr>
        <p:spPr>
          <a:xfrm>
            <a:off x="4389120" y="420624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Assistant IA comptable intégré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389120" y="469087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9E75"/>
                </a:solidFill>
              </a:rPr>
              <a:t>Phase : Utilisation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389120" y="493776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2C2C2A"/>
                </a:solidFill>
              </a:rPr>
              <a:t>Chatbot capable de répondre aux questions courantes ("comment exporter mes relevés ?"), générer des rapports simples et anticiper les alertes de trésorerie.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8183880" y="3703320"/>
            <a:ext cx="3749040" cy="274320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8183880" y="3703320"/>
            <a:ext cx="374904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0652760" y="3840480"/>
            <a:ext cx="1188720" cy="274320"/>
          </a:xfrm>
          <a:prstGeom prst="roundRect">
            <a:avLst>
              <a:gd name="adj" fmla="val 20000"/>
            </a:avLst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652760" y="38404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Moyenne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8183880" y="384048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🤝</a:t>
            </a:r>
            <a:endParaRPr lang="en-US" sz="2400" dirty="0"/>
          </a:p>
        </p:txBody>
      </p:sp>
      <p:sp>
        <p:nvSpPr>
          <p:cNvPr id="49" name="Text 47"/>
          <p:cNvSpPr/>
          <p:nvPr/>
        </p:nvSpPr>
        <p:spPr>
          <a:xfrm>
            <a:off x="8321040" y="420624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Programme parrainage PME dédié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8321040" y="469087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</a:rPr>
              <a:t>Phase : Fidélité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8321040" y="493776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2C2C2A"/>
                </a:solidFill>
              </a:rPr>
              <a:t>Récompenses business (cashback, mois offerts, accès features premium) pour les clients qui parrainent d'autres entrepreneurs. Créer une communauté PME.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PROCHAINES ÉTAPES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</a:rPr>
              <a:t>Roadmap de mise en œuvre recommandée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657600" cy="502920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3657600" cy="640080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7160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Court terme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(0-3 mois)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2240280"/>
            <a:ext cx="201168" cy="201168"/>
          </a:xfrm>
          <a:prstGeom prst="ellipse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24028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914400" y="214884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KYC simplifié mobile-first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3017520"/>
            <a:ext cx="201168" cy="201168"/>
          </a:xfrm>
          <a:prstGeom prst="ellipse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01752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914400" y="292608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Simulateur de coûts transparent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3794760"/>
            <a:ext cx="201168" cy="201168"/>
          </a:xfrm>
          <a:prstGeom prst="ellipse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79476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914400" y="370332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Checklist d'activation guidée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297680" y="1371600"/>
            <a:ext cx="3657600" cy="502920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97680" y="1371600"/>
            <a:ext cx="3657600" cy="640080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97680" y="137160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Moyen terme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(3-6 mois)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480560" y="2240280"/>
            <a:ext cx="201168" cy="201168"/>
          </a:xfrm>
          <a:prstGeom prst="ellipse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80560" y="224028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754880" y="214884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Assistant IA comptable intégré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480560" y="3017520"/>
            <a:ext cx="201168" cy="201168"/>
          </a:xfrm>
          <a:prstGeom prst="ellipse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80560" y="301752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754880" y="292608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Refonte support client dédié PME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480560" y="3794760"/>
            <a:ext cx="201168" cy="201168"/>
          </a:xfrm>
          <a:prstGeom prst="ellipse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80560" y="379476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754880" y="370332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Contenu SEO ciblé entrepreneurs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138160" y="1371600"/>
            <a:ext cx="3657600" cy="502920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138160" y="1371600"/>
            <a:ext cx="3657600" cy="64008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138160" y="137160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Long terme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(6-12 mois)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321040" y="2240280"/>
            <a:ext cx="201168" cy="201168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321040" y="224028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8595360" y="214884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Programme parrainage PME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321040" y="3017520"/>
            <a:ext cx="201168" cy="201168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321040" y="301752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8595360" y="292608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Dashboard analytique avancé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8321040" y="3794760"/>
            <a:ext cx="201168" cy="201168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321040" y="379476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8595360" y="370332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Offres complémentaires (crédit, assurance)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337560" y="6035040"/>
            <a:ext cx="5486400" cy="502920"/>
          </a:xfrm>
          <a:prstGeom prst="roundRect">
            <a:avLst>
              <a:gd name="adj" fmla="val 18182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337560" y="603504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Prochain atelier UX : priorisation des fonctionnalités →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User Journey Map — Service bancaire fintech · Entrepreneur / PME</dc:title>
  <dc:subject>PptxGenJS Presentation</dc:subject>
  <dc:creator>PptxGenJS</dc:creator>
  <cp:lastModifiedBy>PptxGenJS</cp:lastModifiedBy>
  <cp:revision>1</cp:revision>
  <dcterms:created xsi:type="dcterms:W3CDTF">2026-04-01T20:14:59Z</dcterms:created>
  <dcterms:modified xsi:type="dcterms:W3CDTF">2026-04-01T20:14:59Z</dcterms:modified>
</cp:coreProperties>
</file>